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Arial Black"/>
      <p:regular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font" Target="fonts/ArialBlack-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cb6f3dd37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cb6f3dd37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cb6f3dd37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cb6f3dd37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cb6f3dd37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cb6f3dd37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b6f3dd37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b6f3dd37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cb6f3dd37b_0_1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g3cb6f3dd37b_0_11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g3cb6f3dd37b_0_11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t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b6f3dd37b_0_15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3cb6f3dd37b_0_15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3cb6f3dd37b_0_15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t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b6f3dd37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cb6f3dd37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b6f3dd37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cb6f3dd37b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b6f3dd37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b6f3dd37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4" name="Shape 54"/>
        <p:cNvGrpSpPr/>
        <p:nvPr/>
      </p:nvGrpSpPr>
      <p:grpSpPr>
        <a:xfrm>
          <a:off x="0" y="0"/>
          <a:ext cx="0" cy="0"/>
          <a:chOff x="0" y="0"/>
          <a:chExt cx="0" cy="0"/>
        </a:xfrm>
      </p:grpSpPr>
      <p:sp>
        <p:nvSpPr>
          <p:cNvPr id="55" name="Google Shape;55;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tr"/>
              <a:t>DVD Kutusundan Algoritma Krallığına</a:t>
            </a:r>
            <a:endParaRPr/>
          </a:p>
        </p:txBody>
      </p:sp>
      <p:pic>
        <p:nvPicPr>
          <p:cNvPr id="56" name="Google Shape;56;p14"/>
          <p:cNvPicPr preferRelativeResize="0"/>
          <p:nvPr/>
        </p:nvPicPr>
        <p:blipFill>
          <a:blip r:embed="rId3">
            <a:alphaModFix/>
          </a:blip>
          <a:stretch>
            <a:fillRect/>
          </a:stretch>
        </p:blipFill>
        <p:spPr>
          <a:xfrm>
            <a:off x="2617213" y="744575"/>
            <a:ext cx="3909566" cy="205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0" name="Shape 60"/>
        <p:cNvGrpSpPr/>
        <p:nvPr/>
      </p:nvGrpSpPr>
      <p:grpSpPr>
        <a:xfrm>
          <a:off x="0" y="0"/>
          <a:ext cx="0" cy="0"/>
          <a:chOff x="0" y="0"/>
          <a:chExt cx="0" cy="0"/>
        </a:xfrm>
      </p:grpSpPr>
      <p:sp>
        <p:nvSpPr>
          <p:cNvPr id="61" name="Google Shape;6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solidFill>
                  <a:srgbClr val="FF0000"/>
                </a:solidFill>
              </a:rPr>
              <a:t>                                        </a:t>
            </a:r>
            <a:r>
              <a:rPr lang="tr">
                <a:solidFill>
                  <a:srgbClr val="FF0000"/>
                </a:solidFill>
              </a:rPr>
              <a:t>Hikayesi</a:t>
            </a:r>
            <a:endParaRPr>
              <a:solidFill>
                <a:srgbClr val="FF0000"/>
              </a:solidFill>
            </a:endParaRPr>
          </a:p>
        </p:txBody>
      </p:sp>
      <p:sp>
        <p:nvSpPr>
          <p:cNvPr id="62" name="Google Shape;62;p15"/>
          <p:cNvSpPr txBox="1"/>
          <p:nvPr>
            <p:ph idx="1" type="body"/>
          </p:nvPr>
        </p:nvSpPr>
        <p:spPr>
          <a:xfrm>
            <a:off x="311700" y="1152475"/>
            <a:ext cx="4014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sz="1100">
                <a:solidFill>
                  <a:schemeClr val="lt1"/>
                </a:solidFill>
              </a:rPr>
              <a:t>Reed Hastings, "Apollo 13" filmini video kiralama mağazasına geç iade ettiği için </a:t>
            </a:r>
            <a:r>
              <a:rPr b="1" lang="tr" sz="1100">
                <a:solidFill>
                  <a:schemeClr val="lt1"/>
                </a:solidFill>
              </a:rPr>
              <a:t>40 dolar gecikme cezası</a:t>
            </a:r>
            <a:r>
              <a:rPr lang="tr" sz="1100">
                <a:solidFill>
                  <a:schemeClr val="lt1"/>
                </a:solidFill>
              </a:rPr>
              <a:t> ödemek zorunda kaldı. Bu olay ona "neden abonelik sistemiyle film kiralama yapılmasın?" fikrini verdi. </a:t>
            </a:r>
            <a:endParaRPr sz="1100">
              <a:solidFill>
                <a:schemeClr val="lt1"/>
              </a:solidFill>
            </a:endParaRPr>
          </a:p>
          <a:p>
            <a:pPr indent="0" lvl="0" marL="0" rtl="0" algn="l">
              <a:spcBef>
                <a:spcPts val="1200"/>
              </a:spcBef>
              <a:spcAft>
                <a:spcPts val="0"/>
              </a:spcAft>
              <a:buNone/>
            </a:pPr>
            <a:r>
              <a:rPr lang="tr" sz="1100">
                <a:solidFill>
                  <a:schemeClr val="lt2"/>
                </a:solidFill>
              </a:rPr>
              <a:t>(Aslında bu hikaye biraz efsaneleştirilmiş; Hastings daha sonra bunu bir pazarlama anlatısı olarak kurguladığını itiraf etti, ama gecikme cezalarının gerçekten ilham verdiği doğru.)</a:t>
            </a:r>
            <a:endParaRPr sz="1100">
              <a:solidFill>
                <a:schemeClr val="lt2"/>
              </a:solidFill>
            </a:endParaRPr>
          </a:p>
          <a:p>
            <a:pPr indent="0" lvl="0" marL="0" rtl="0" algn="l">
              <a:spcBef>
                <a:spcPts val="1200"/>
              </a:spcBef>
              <a:spcAft>
                <a:spcPts val="0"/>
              </a:spcAft>
              <a:buNone/>
            </a:pPr>
            <a:r>
              <a:t/>
            </a:r>
            <a:endParaRPr sz="1100">
              <a:solidFill>
                <a:schemeClr val="lt2"/>
              </a:solidFill>
            </a:endParaRPr>
          </a:p>
          <a:p>
            <a:pPr indent="0" lvl="0" marL="0" rtl="0" algn="l">
              <a:spcBef>
                <a:spcPts val="1200"/>
              </a:spcBef>
              <a:spcAft>
                <a:spcPts val="1200"/>
              </a:spcAft>
              <a:buNone/>
            </a:pPr>
            <a:r>
              <a:rPr b="1" lang="tr" sz="1100">
                <a:solidFill>
                  <a:schemeClr val="lt1"/>
                </a:solidFill>
              </a:rPr>
              <a:t>İlk yıllarda</a:t>
            </a:r>
            <a:r>
              <a:rPr lang="tr" sz="1100">
                <a:solidFill>
                  <a:schemeClr val="lt1"/>
                </a:solidFill>
              </a:rPr>
              <a:t> Netflix, bugünkü gibi bir yayın platformu değildi. DVD'leri posta yoluyla kiralayan bir şirketti. Kullanıcılar DVD seçer, posta kutularına gelir, izler ve iade ederdi. Gecikme cezası yoktu.</a:t>
            </a:r>
            <a:endParaRPr sz="1100">
              <a:solidFill>
                <a:schemeClr val="lt1"/>
              </a:solidFill>
            </a:endParaRPr>
          </a:p>
        </p:txBody>
      </p:sp>
      <p:pic>
        <p:nvPicPr>
          <p:cNvPr id="63" name="Google Shape;63;p15"/>
          <p:cNvPicPr preferRelativeResize="0"/>
          <p:nvPr/>
        </p:nvPicPr>
        <p:blipFill>
          <a:blip r:embed="rId3">
            <a:alphaModFix/>
          </a:blip>
          <a:stretch>
            <a:fillRect/>
          </a:stretch>
        </p:blipFill>
        <p:spPr>
          <a:xfrm>
            <a:off x="6112950" y="1017725"/>
            <a:ext cx="2493535" cy="3820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7" name="Shape 67"/>
        <p:cNvGrpSpPr/>
        <p:nvPr/>
      </p:nvGrpSpPr>
      <p:grpSpPr>
        <a:xfrm>
          <a:off x="0" y="0"/>
          <a:ext cx="0" cy="0"/>
          <a:chOff x="0" y="0"/>
          <a:chExt cx="0" cy="0"/>
        </a:xfrm>
      </p:grpSpPr>
      <p:sp>
        <p:nvSpPr>
          <p:cNvPr id="68" name="Google Shape;6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solidFill>
                  <a:srgbClr val="FF0000"/>
                </a:solidFill>
              </a:rPr>
              <a:t>                                        Süreç</a:t>
            </a:r>
            <a:endParaRPr>
              <a:solidFill>
                <a:srgbClr val="FF0000"/>
              </a:solidFill>
            </a:endParaRPr>
          </a:p>
        </p:txBody>
      </p:sp>
      <p:sp>
        <p:nvSpPr>
          <p:cNvPr id="69" name="Google Shape;69;p16"/>
          <p:cNvSpPr txBox="1"/>
          <p:nvPr>
            <p:ph idx="1" type="body"/>
          </p:nvPr>
        </p:nvSpPr>
        <p:spPr>
          <a:xfrm>
            <a:off x="311700" y="1152475"/>
            <a:ext cx="4014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1200"/>
              </a:spcBef>
              <a:spcAft>
                <a:spcPts val="0"/>
              </a:spcAft>
              <a:buClr>
                <a:schemeClr val="dk1"/>
              </a:buClr>
              <a:buSzPct val="100000"/>
              <a:buFont typeface="Arial"/>
              <a:buNone/>
            </a:pPr>
            <a:r>
              <a:rPr lang="tr" sz="1100">
                <a:solidFill>
                  <a:schemeClr val="lt1"/>
                </a:solidFill>
              </a:rPr>
              <a:t>2000 yılında Netflix, Blockbuster'a "bizi satın al" dedi. Blockbuster güldü ve reddetti. O dönem Blockbuster yılda </a:t>
            </a:r>
            <a:r>
              <a:rPr b="1" lang="tr" sz="1100">
                <a:solidFill>
                  <a:schemeClr val="lt1"/>
                </a:solidFill>
              </a:rPr>
              <a:t>800 milyon dolar</a:t>
            </a:r>
            <a:r>
              <a:rPr lang="tr" sz="1100">
                <a:solidFill>
                  <a:schemeClr val="lt1"/>
                </a:solidFill>
              </a:rPr>
              <a:t> sadece gecikme cezasından kazanıyordu, Netflix ise küçük bir DVD kiralama şirketiydi.</a:t>
            </a:r>
            <a:endParaRPr sz="1100">
              <a:solidFill>
                <a:schemeClr val="lt1"/>
              </a:solidFill>
            </a:endParaRPr>
          </a:p>
          <a:p>
            <a:pPr indent="0" lvl="0" marL="0" rtl="0" algn="l">
              <a:spcBef>
                <a:spcPts val="1200"/>
              </a:spcBef>
              <a:spcAft>
                <a:spcPts val="0"/>
              </a:spcAft>
              <a:buClr>
                <a:schemeClr val="dk1"/>
              </a:buClr>
              <a:buSzPct val="100000"/>
              <a:buFont typeface="Arial"/>
              <a:buNone/>
            </a:pPr>
            <a:r>
              <a:rPr lang="tr" sz="1100">
                <a:solidFill>
                  <a:schemeClr val="lt1"/>
                </a:solidFill>
              </a:rPr>
              <a:t>Yıllar içinde Netflix streaming'e (2007)geçti, Blockbuster ise eski modeline tutundu. </a:t>
            </a:r>
            <a:r>
              <a:rPr b="1" lang="tr" sz="1100">
                <a:solidFill>
                  <a:schemeClr val="lt1"/>
                </a:solidFill>
              </a:rPr>
              <a:t>2010'da</a:t>
            </a:r>
            <a:r>
              <a:rPr lang="tr" sz="1100">
                <a:solidFill>
                  <a:schemeClr val="lt1"/>
                </a:solidFill>
              </a:rPr>
              <a:t> Blockbuster iflas etti. Netflix ise bugün </a:t>
            </a:r>
            <a:r>
              <a:rPr b="1" lang="tr" sz="1100">
                <a:solidFill>
                  <a:schemeClr val="lt1"/>
                </a:solidFill>
              </a:rPr>
              <a:t>200 milyar dolar</a:t>
            </a:r>
            <a:r>
              <a:rPr lang="tr" sz="1100">
                <a:solidFill>
                  <a:schemeClr val="lt1"/>
                </a:solidFill>
              </a:rPr>
              <a:t> değerinde bir şirket.</a:t>
            </a:r>
            <a:endParaRPr sz="1100">
              <a:solidFill>
                <a:schemeClr val="lt1"/>
              </a:solidFill>
            </a:endParaRPr>
          </a:p>
          <a:p>
            <a:pPr indent="0" lvl="0" marL="0" rtl="0" algn="l">
              <a:spcBef>
                <a:spcPts val="1200"/>
              </a:spcBef>
              <a:spcAft>
                <a:spcPts val="0"/>
              </a:spcAft>
              <a:buClr>
                <a:schemeClr val="dk1"/>
              </a:buClr>
              <a:buSzPct val="100000"/>
              <a:buFont typeface="Arial"/>
              <a:buNone/>
            </a:pPr>
            <a:r>
              <a:rPr lang="tr" sz="1100">
                <a:solidFill>
                  <a:schemeClr val="lt1"/>
                </a:solidFill>
              </a:rPr>
              <a:t>Tarihin en pahalı "hayır" cevaplarından biri olarak anılıyor.</a:t>
            </a:r>
            <a:endParaRPr sz="1100">
              <a:solidFill>
                <a:schemeClr val="lt1"/>
              </a:solidFill>
            </a:endParaRPr>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rPr lang="tr" sz="1100"/>
              <a:t>Not:</a:t>
            </a:r>
            <a:endParaRPr sz="1100"/>
          </a:p>
          <a:p>
            <a:pPr indent="0" lvl="0" marL="0" rtl="0" algn="l">
              <a:spcBef>
                <a:spcPts val="1200"/>
              </a:spcBef>
              <a:spcAft>
                <a:spcPts val="0"/>
              </a:spcAft>
              <a:buClr>
                <a:schemeClr val="dk1"/>
              </a:buClr>
              <a:buSzPct val="100000"/>
              <a:buFont typeface="Arial"/>
              <a:buNone/>
            </a:pPr>
            <a:r>
              <a:rPr lang="tr" sz="1100"/>
              <a:t>Streaming, bir içeriği (film, müzik, video) </a:t>
            </a:r>
            <a:r>
              <a:rPr b="1" lang="tr" sz="1100"/>
              <a:t>indirmeden</a:t>
            </a:r>
            <a:r>
              <a:rPr lang="tr" sz="1100"/>
              <a:t> doğrudan internet üzerinden anlık olarak izlemek/dinlemek demek.</a:t>
            </a:r>
            <a:endParaRPr sz="1100"/>
          </a:p>
          <a:p>
            <a:pPr indent="0" lvl="0" marL="0" rtl="0" algn="l">
              <a:spcBef>
                <a:spcPts val="1200"/>
              </a:spcBef>
              <a:spcAft>
                <a:spcPts val="0"/>
              </a:spcAft>
              <a:buNone/>
            </a:pPr>
            <a:r>
              <a:t/>
            </a:r>
            <a:endParaRPr sz="1100"/>
          </a:p>
          <a:p>
            <a:pPr indent="0" lvl="0" marL="0" rtl="0" algn="l">
              <a:spcBef>
                <a:spcPts val="1200"/>
              </a:spcBef>
              <a:spcAft>
                <a:spcPts val="1200"/>
              </a:spcAft>
              <a:buNone/>
            </a:pPr>
            <a:r>
              <a:t/>
            </a:r>
            <a:endParaRPr sz="1100">
              <a:solidFill>
                <a:schemeClr val="lt1"/>
              </a:solidFill>
            </a:endParaRPr>
          </a:p>
        </p:txBody>
      </p:sp>
      <p:pic>
        <p:nvPicPr>
          <p:cNvPr id="70" name="Google Shape;70;p16"/>
          <p:cNvPicPr preferRelativeResize="0"/>
          <p:nvPr/>
        </p:nvPicPr>
        <p:blipFill>
          <a:blip r:embed="rId3">
            <a:alphaModFix/>
          </a:blip>
          <a:stretch>
            <a:fillRect/>
          </a:stretch>
        </p:blipFill>
        <p:spPr>
          <a:xfrm>
            <a:off x="5755450" y="1152475"/>
            <a:ext cx="2437675" cy="1460975"/>
          </a:xfrm>
          <a:prstGeom prst="rect">
            <a:avLst/>
          </a:prstGeom>
          <a:noFill/>
          <a:ln>
            <a:noFill/>
          </a:ln>
        </p:spPr>
      </p:pic>
      <p:sp>
        <p:nvSpPr>
          <p:cNvPr id="71" name="Google Shape;71;p16"/>
          <p:cNvSpPr txBox="1"/>
          <p:nvPr/>
        </p:nvSpPr>
        <p:spPr>
          <a:xfrm>
            <a:off x="5755438" y="3020425"/>
            <a:ext cx="2816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tr" sz="1100">
                <a:solidFill>
                  <a:schemeClr val="dk2"/>
                </a:solidFill>
              </a:rPr>
              <a:t>Not:</a:t>
            </a:r>
            <a:endParaRPr sz="1100">
              <a:solidFill>
                <a:schemeClr val="dk2"/>
              </a:solidFill>
            </a:endParaRPr>
          </a:p>
          <a:p>
            <a:pPr indent="0" lvl="0" marL="0" rtl="0" algn="l">
              <a:spcBef>
                <a:spcPts val="0"/>
              </a:spcBef>
              <a:spcAft>
                <a:spcPts val="0"/>
              </a:spcAft>
              <a:buNone/>
            </a:pPr>
            <a:r>
              <a:rPr lang="tr" sz="1100">
                <a:solidFill>
                  <a:schemeClr val="dk2"/>
                </a:solidFill>
              </a:rPr>
              <a:t>O dönemin en büyük dvd şirketi</a:t>
            </a:r>
            <a:endParaRPr sz="11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solidFill>
                  <a:srgbClr val="FF0000"/>
                </a:solidFill>
              </a:rPr>
              <a:t>                                        Süreç</a:t>
            </a:r>
            <a:endParaRPr>
              <a:solidFill>
                <a:srgbClr val="FF0000"/>
              </a:solidFill>
            </a:endParaRPr>
          </a:p>
        </p:txBody>
      </p:sp>
      <p:sp>
        <p:nvSpPr>
          <p:cNvPr id="77" name="Google Shape;77;p17"/>
          <p:cNvSpPr txBox="1"/>
          <p:nvPr>
            <p:ph idx="1" type="body"/>
          </p:nvPr>
        </p:nvSpPr>
        <p:spPr>
          <a:xfrm>
            <a:off x="311700" y="1152475"/>
            <a:ext cx="4014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tr" sz="1100">
                <a:solidFill>
                  <a:schemeClr val="lt1"/>
                </a:solidFill>
              </a:rPr>
              <a:t>2013'te</a:t>
            </a:r>
            <a:r>
              <a:rPr lang="tr" sz="1100">
                <a:solidFill>
                  <a:schemeClr val="lt1"/>
                </a:solidFill>
              </a:rPr>
              <a:t> "House of Cards" ile orijinal içerik üretimine başladılar ve bu alanda da çığır açtılar.</a:t>
            </a:r>
            <a:endParaRPr sz="1100">
              <a:solidFill>
                <a:schemeClr val="lt1"/>
              </a:solidFill>
            </a:endParaRPr>
          </a:p>
          <a:p>
            <a:pPr indent="0" lvl="0" marL="0" rtl="0" algn="l">
              <a:spcBef>
                <a:spcPts val="1200"/>
              </a:spcBef>
              <a:spcAft>
                <a:spcPts val="0"/>
              </a:spcAft>
              <a:buNone/>
            </a:pPr>
            <a:r>
              <a:rPr lang="tr" sz="1100">
                <a:solidFill>
                  <a:schemeClr val="lt1"/>
                </a:solidFill>
              </a:rPr>
              <a:t>Netflix başlangıçta sadece başkalarının yaptığı içerikleri yayınlıyordu; yani film stüdyolarından ve TV kanallarından lisans satın alıyordu. Ama bu sistemin bir sorunu vardı: stüdyolar istedikleri zaman lisansı geri çekebilir ya da fiyatı artırabilirdi. Netflix tamamen başkalarına bağımlıydı.</a:t>
            </a:r>
            <a:endParaRPr sz="1100">
              <a:solidFill>
                <a:schemeClr val="lt1"/>
              </a:solidFill>
            </a:endParaRPr>
          </a:p>
          <a:p>
            <a:pPr indent="0" lvl="0" marL="0" rtl="0" algn="l">
              <a:spcBef>
                <a:spcPts val="1200"/>
              </a:spcBef>
              <a:spcAft>
                <a:spcPts val="0"/>
              </a:spcAft>
              <a:buNone/>
            </a:pPr>
            <a:r>
              <a:rPr lang="tr" sz="1100">
                <a:solidFill>
                  <a:schemeClr val="lt1"/>
                </a:solidFill>
              </a:rPr>
              <a:t>Bunun üzerine "neden kendi içeriğimizi kendimiz yapmayalım?" dediler.</a:t>
            </a:r>
            <a:endParaRPr sz="1100">
              <a:solidFill>
                <a:schemeClr val="lt1"/>
              </a:solidFill>
            </a:endParaRPr>
          </a:p>
          <a:p>
            <a:pPr indent="0" lvl="0" marL="0" rtl="0" algn="l">
              <a:spcBef>
                <a:spcPts val="1200"/>
              </a:spcBef>
              <a:spcAft>
                <a:spcPts val="1200"/>
              </a:spcAft>
              <a:buNone/>
            </a:pPr>
            <a:r>
              <a:rPr b="1" lang="tr" sz="1100">
                <a:solidFill>
                  <a:schemeClr val="lt1"/>
                </a:solidFill>
              </a:rPr>
              <a:t>2013'te</a:t>
            </a:r>
            <a:r>
              <a:rPr lang="tr" sz="1100">
                <a:solidFill>
                  <a:schemeClr val="lt1"/>
                </a:solidFill>
              </a:rPr>
              <a:t> ilk büyük hamleyi yaptılar: </a:t>
            </a:r>
            <a:r>
              <a:rPr b="1" lang="tr" sz="1100">
                <a:solidFill>
                  <a:schemeClr val="lt1"/>
                </a:solidFill>
              </a:rPr>
              <a:t>House of Cards</a:t>
            </a:r>
            <a:r>
              <a:rPr lang="tr" sz="1100">
                <a:solidFill>
                  <a:schemeClr val="lt1"/>
                </a:solidFill>
              </a:rPr>
              <a:t>. Siyasi bir dram dizisiydi ve Netflix bunu yapmadan önce çok ilginç bir şey yaptı. Ellerindeki kullanıcı verilerine baktılar. Hangi filmleri izleyenler hangi dizileri seviyor, hangi yönetmenler popüler gibi sorular sordular ve veriler şunu söyledi: David Fincher hayranları, Kevin Spacey hayranları ve politik drama sevenler büyük ölçüde örtüşüyor. Bu üçünü bir araya getirdiler ve House of Cards doğdu.</a:t>
            </a:r>
            <a:endParaRPr sz="1100">
              <a:solidFill>
                <a:schemeClr val="lt1"/>
              </a:solidFill>
            </a:endParaRPr>
          </a:p>
        </p:txBody>
      </p:sp>
      <p:sp>
        <p:nvSpPr>
          <p:cNvPr id="78" name="Google Shape;78;p17"/>
          <p:cNvSpPr txBox="1"/>
          <p:nvPr/>
        </p:nvSpPr>
        <p:spPr>
          <a:xfrm>
            <a:off x="5755438" y="3020425"/>
            <a:ext cx="2816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2"/>
              </a:solidFill>
            </a:endParaRPr>
          </a:p>
        </p:txBody>
      </p:sp>
      <p:pic>
        <p:nvPicPr>
          <p:cNvPr id="79" name="Google Shape;79;p17"/>
          <p:cNvPicPr preferRelativeResize="0"/>
          <p:nvPr/>
        </p:nvPicPr>
        <p:blipFill>
          <a:blip r:embed="rId3">
            <a:alphaModFix/>
          </a:blip>
          <a:stretch>
            <a:fillRect/>
          </a:stretch>
        </p:blipFill>
        <p:spPr>
          <a:xfrm>
            <a:off x="6183700" y="1152479"/>
            <a:ext cx="2284350" cy="338928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solidFill>
                  <a:srgbClr val="FF0000"/>
                </a:solidFill>
              </a:rPr>
              <a:t>                                        Süreç</a:t>
            </a:r>
            <a:endParaRPr>
              <a:solidFill>
                <a:srgbClr val="FF0000"/>
              </a:solidFill>
            </a:endParaRPr>
          </a:p>
        </p:txBody>
      </p:sp>
      <p:sp>
        <p:nvSpPr>
          <p:cNvPr id="85" name="Google Shape;85;p18"/>
          <p:cNvSpPr txBox="1"/>
          <p:nvPr>
            <p:ph idx="1" type="body"/>
          </p:nvPr>
        </p:nvSpPr>
        <p:spPr>
          <a:xfrm>
            <a:off x="311700" y="1152475"/>
            <a:ext cx="4014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Clr>
                <a:schemeClr val="dk1"/>
              </a:buClr>
              <a:buSzPct val="100000"/>
              <a:buFont typeface="Arial"/>
              <a:buNone/>
            </a:pPr>
            <a:r>
              <a:rPr lang="tr" sz="1100">
                <a:solidFill>
                  <a:schemeClr val="lt1"/>
                </a:solidFill>
              </a:rPr>
              <a:t>Geleneksel TV'de bir dizinin yeni bölümü haftada bir yayınlanırdı. İzleyici beklemek zorundaydı, reklamlar vardı ve sen de o kanalın yayın saatine göre ayarlardın hayatını.</a:t>
            </a:r>
            <a:endParaRPr sz="1100">
              <a:solidFill>
                <a:schemeClr val="lt1"/>
              </a:solidFill>
            </a:endParaRPr>
          </a:p>
          <a:p>
            <a:pPr indent="0" lvl="0" marL="0" rtl="0" algn="l">
              <a:spcBef>
                <a:spcPts val="1200"/>
              </a:spcBef>
              <a:spcAft>
                <a:spcPts val="0"/>
              </a:spcAft>
              <a:buClr>
                <a:schemeClr val="dk1"/>
              </a:buClr>
              <a:buSzPct val="100000"/>
              <a:buFont typeface="Arial"/>
              <a:buNone/>
            </a:pPr>
            <a:r>
              <a:rPr lang="tr" sz="1100">
                <a:solidFill>
                  <a:schemeClr val="lt1"/>
                </a:solidFill>
              </a:rPr>
              <a:t>Netflix ise House of Cards'ın ilk sezonunda tüm bölümleri </a:t>
            </a:r>
            <a:r>
              <a:rPr b="1" lang="tr" sz="1100">
                <a:solidFill>
                  <a:schemeClr val="lt1"/>
                </a:solidFill>
              </a:rPr>
              <a:t>aynı anda</a:t>
            </a:r>
            <a:r>
              <a:rPr lang="tr" sz="1100">
                <a:solidFill>
                  <a:schemeClr val="lt1"/>
                </a:solidFill>
              </a:rPr>
              <a:t> yayınladı. Yani 13 bölümün hepsini istediğin zaman, istediğin sırayla izleyebiliyordun.</a:t>
            </a:r>
            <a:endParaRPr sz="1100">
              <a:solidFill>
                <a:schemeClr val="lt1"/>
              </a:solidFill>
            </a:endParaRPr>
          </a:p>
          <a:p>
            <a:pPr indent="0" lvl="0" marL="0" rtl="0" algn="l">
              <a:spcBef>
                <a:spcPts val="1200"/>
              </a:spcBef>
              <a:spcAft>
                <a:spcPts val="0"/>
              </a:spcAft>
              <a:buClr>
                <a:schemeClr val="dk1"/>
              </a:buClr>
              <a:buSzPct val="100000"/>
              <a:buFont typeface="Arial"/>
              <a:buNone/>
            </a:pPr>
            <a:r>
              <a:rPr lang="tr" sz="1100">
                <a:solidFill>
                  <a:schemeClr val="lt1"/>
                </a:solidFill>
              </a:rPr>
              <a:t>Bu devrim gibiydi çünkü insanlar bir bölüm bitince durамıyordu, hemen sonrakine geçiyordu. Zaten Netflix'in "bir sonraki bölüm 5 saniye sonra başlıyor" özelliği de bunu körükledi. </a:t>
            </a:r>
            <a:r>
              <a:rPr b="1" lang="tr" sz="1100">
                <a:solidFill>
                  <a:schemeClr val="lt1"/>
                </a:solidFill>
              </a:rPr>
              <a:t>Binge watching</a:t>
            </a:r>
            <a:r>
              <a:rPr lang="tr" sz="1100">
                <a:solidFill>
                  <a:schemeClr val="lt1"/>
                </a:solidFill>
              </a:rPr>
              <a:t> yani dizi maratonu kültürü böyle doğdu.</a:t>
            </a:r>
            <a:endParaRPr sz="1100">
              <a:solidFill>
                <a:schemeClr val="lt1"/>
              </a:solidFill>
            </a:endParaRPr>
          </a:p>
          <a:p>
            <a:pPr indent="0" lvl="0" marL="0" rtl="0" algn="l">
              <a:spcBef>
                <a:spcPts val="1200"/>
              </a:spcBef>
              <a:spcAft>
                <a:spcPts val="0"/>
              </a:spcAft>
              <a:buClr>
                <a:schemeClr val="dk1"/>
              </a:buClr>
              <a:buSzPct val="100000"/>
              <a:buFont typeface="Arial"/>
              <a:buNone/>
            </a:pPr>
            <a:r>
              <a:rPr lang="tr" sz="1100">
                <a:solidFill>
                  <a:schemeClr val="lt1"/>
                </a:solidFill>
              </a:rPr>
              <a:t>Geleneksel TV kanalları bunu başta yadırgadı, hatta eleştirdi. Ama izleyiciler bu özgürlüğü çok sevdi. Artık sen diziye değil, dizi sana uyuyordu.</a:t>
            </a:r>
            <a:endParaRPr sz="1100">
              <a:solidFill>
                <a:schemeClr val="lt1"/>
              </a:solidFill>
            </a:endParaRPr>
          </a:p>
          <a:p>
            <a:pPr indent="0" lvl="0" marL="0" rtl="0" algn="l">
              <a:spcBef>
                <a:spcPts val="1200"/>
              </a:spcBef>
              <a:spcAft>
                <a:spcPts val="0"/>
              </a:spcAft>
              <a:buClr>
                <a:schemeClr val="dk1"/>
              </a:buClr>
              <a:buSzPct val="100000"/>
              <a:buFont typeface="Arial"/>
              <a:buNone/>
            </a:pPr>
            <a:r>
              <a:rPr lang="tr" sz="1100">
                <a:solidFill>
                  <a:schemeClr val="lt1"/>
                </a:solidFill>
              </a:rPr>
              <a:t>Sonunda diğer platformlar da aynı modeli benimsemek zorunda kaldı. Netflix bir izleme alışkanlığını tamamen değiştirmişti.</a:t>
            </a:r>
            <a:endParaRPr sz="1100">
              <a:solidFill>
                <a:schemeClr val="lt1"/>
              </a:solidFill>
            </a:endParaRPr>
          </a:p>
          <a:p>
            <a:pPr indent="0" lvl="0" marL="0" rtl="0" algn="l">
              <a:spcBef>
                <a:spcPts val="1200"/>
              </a:spcBef>
              <a:spcAft>
                <a:spcPts val="1200"/>
              </a:spcAft>
              <a:buNone/>
            </a:pPr>
            <a:r>
              <a:t/>
            </a:r>
            <a:endParaRPr sz="1100">
              <a:solidFill>
                <a:schemeClr val="lt1"/>
              </a:solidFill>
            </a:endParaRPr>
          </a:p>
        </p:txBody>
      </p:sp>
      <p:sp>
        <p:nvSpPr>
          <p:cNvPr id="86" name="Google Shape;86;p18"/>
          <p:cNvSpPr txBox="1"/>
          <p:nvPr/>
        </p:nvSpPr>
        <p:spPr>
          <a:xfrm>
            <a:off x="5755438" y="3020425"/>
            <a:ext cx="2816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2"/>
              </a:solidFill>
            </a:endParaRPr>
          </a:p>
        </p:txBody>
      </p:sp>
      <p:pic>
        <p:nvPicPr>
          <p:cNvPr id="87" name="Google Shape;87;p18"/>
          <p:cNvPicPr preferRelativeResize="0"/>
          <p:nvPr/>
        </p:nvPicPr>
        <p:blipFill>
          <a:blip r:embed="rId3">
            <a:alphaModFix/>
          </a:blip>
          <a:stretch>
            <a:fillRect/>
          </a:stretch>
        </p:blipFill>
        <p:spPr>
          <a:xfrm>
            <a:off x="4964375" y="1152475"/>
            <a:ext cx="4133400" cy="2326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92" name="Shape 92"/>
        <p:cNvGrpSpPr/>
        <p:nvPr/>
      </p:nvGrpSpPr>
      <p:grpSpPr>
        <a:xfrm>
          <a:off x="0" y="0"/>
          <a:ext cx="0" cy="0"/>
          <a:chOff x="0" y="0"/>
          <a:chExt cx="0" cy="0"/>
        </a:xfrm>
      </p:grpSpPr>
      <p:sp>
        <p:nvSpPr>
          <p:cNvPr id="93" name="Google Shape;93;p19"/>
          <p:cNvSpPr/>
          <p:nvPr/>
        </p:nvSpPr>
        <p:spPr>
          <a:xfrm>
            <a:off x="457200" y="228600"/>
            <a:ext cx="8229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Arial Black"/>
              <a:buNone/>
            </a:pPr>
            <a:r>
              <a:rPr b="1" i="0" lang="tr" sz="3600" u="none" cap="none" strike="noStrike">
                <a:solidFill>
                  <a:srgbClr val="FF0000"/>
                </a:solidFill>
                <a:latin typeface="Arial Black"/>
                <a:ea typeface="Arial Black"/>
                <a:cs typeface="Arial Black"/>
                <a:sym typeface="Arial Black"/>
              </a:rPr>
              <a:t>NASIL BÜYÜDÜ</a:t>
            </a:r>
            <a:endParaRPr b="0" i="0" sz="3600" u="none" cap="none" strike="noStrike">
              <a:solidFill>
                <a:srgbClr val="FF0000"/>
              </a:solidFill>
              <a:latin typeface="Calibri"/>
              <a:ea typeface="Calibri"/>
              <a:cs typeface="Calibri"/>
              <a:sym typeface="Calibri"/>
            </a:endParaRPr>
          </a:p>
        </p:txBody>
      </p:sp>
      <p:sp>
        <p:nvSpPr>
          <p:cNvPr id="94" name="Google Shape;94;p19"/>
          <p:cNvSpPr/>
          <p:nvPr/>
        </p:nvSpPr>
        <p:spPr>
          <a:xfrm>
            <a:off x="457200" y="841248"/>
            <a:ext cx="73200" cy="3474600"/>
          </a:xfrm>
          <a:prstGeom prst="rect">
            <a:avLst/>
          </a:prstGeom>
          <a:solidFill>
            <a:srgbClr val="E50914"/>
          </a:solidFill>
          <a:ln cap="flat" cmpd="sng" w="12700">
            <a:solidFill>
              <a:srgbClr val="E509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9"/>
          <p:cNvSpPr/>
          <p:nvPr/>
        </p:nvSpPr>
        <p:spPr>
          <a:xfrm>
            <a:off x="685800" y="914400"/>
            <a:ext cx="1920300" cy="3200400"/>
          </a:xfrm>
          <a:prstGeom prst="rect">
            <a:avLst/>
          </a:prstGeom>
          <a:solidFill>
            <a:srgbClr val="1A1A1A"/>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9"/>
          <p:cNvSpPr/>
          <p:nvPr/>
        </p:nvSpPr>
        <p:spPr>
          <a:xfrm>
            <a:off x="685800" y="914400"/>
            <a:ext cx="1920300" cy="63900"/>
          </a:xfrm>
          <a:prstGeom prst="rect">
            <a:avLst/>
          </a:prstGeom>
          <a:solidFill>
            <a:srgbClr val="E50914"/>
          </a:solidFill>
          <a:ln cap="flat" cmpd="sng" w="12700">
            <a:solidFill>
              <a:srgbClr val="E509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7" name="Google Shape;97;p19"/>
          <p:cNvPicPr preferRelativeResize="0"/>
          <p:nvPr/>
        </p:nvPicPr>
        <p:blipFill rotWithShape="1">
          <a:blip r:embed="rId3">
            <a:alphaModFix/>
          </a:blip>
          <a:srcRect b="0" l="0" r="0" t="0"/>
          <a:stretch/>
        </p:blipFill>
        <p:spPr>
          <a:xfrm>
            <a:off x="822960" y="1097280"/>
            <a:ext cx="457200" cy="457200"/>
          </a:xfrm>
          <a:prstGeom prst="rect">
            <a:avLst/>
          </a:prstGeom>
          <a:noFill/>
          <a:ln>
            <a:noFill/>
          </a:ln>
        </p:spPr>
      </p:pic>
      <p:sp>
        <p:nvSpPr>
          <p:cNvPr id="98" name="Google Shape;98;p19"/>
          <p:cNvSpPr/>
          <p:nvPr/>
        </p:nvSpPr>
        <p:spPr>
          <a:xfrm>
            <a:off x="777240" y="1600200"/>
            <a:ext cx="1737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08080"/>
              </a:buClr>
              <a:buSzPts val="1000"/>
              <a:buFont typeface="Arial"/>
              <a:buNone/>
            </a:pPr>
            <a:r>
              <a:rPr b="0" i="0" lang="tr" sz="1000" u="none" cap="none" strike="noStrike">
                <a:solidFill>
                  <a:srgbClr val="808080"/>
                </a:solidFill>
                <a:latin typeface="Arial"/>
                <a:ea typeface="Arial"/>
                <a:cs typeface="Arial"/>
                <a:sym typeface="Arial"/>
              </a:rPr>
              <a:t>2010–2016</a:t>
            </a:r>
            <a:endParaRPr b="0" i="0" sz="1000" u="none" cap="none" strike="noStrike">
              <a:solidFill>
                <a:schemeClr val="dk1"/>
              </a:solidFill>
              <a:latin typeface="Calibri"/>
              <a:ea typeface="Calibri"/>
              <a:cs typeface="Calibri"/>
              <a:sym typeface="Calibri"/>
            </a:endParaRPr>
          </a:p>
        </p:txBody>
      </p:sp>
      <p:sp>
        <p:nvSpPr>
          <p:cNvPr id="99" name="Google Shape;99;p19"/>
          <p:cNvSpPr/>
          <p:nvPr/>
        </p:nvSpPr>
        <p:spPr>
          <a:xfrm>
            <a:off x="777240" y="1874520"/>
            <a:ext cx="1737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Arial Black"/>
              <a:buNone/>
            </a:pPr>
            <a:r>
              <a:rPr b="1" i="0" lang="tr" sz="1500" u="none" cap="none" strike="noStrike">
                <a:solidFill>
                  <a:srgbClr val="FFFFFF"/>
                </a:solidFill>
                <a:latin typeface="Arial Black"/>
                <a:ea typeface="Arial Black"/>
                <a:cs typeface="Arial Black"/>
                <a:sym typeface="Arial Black"/>
              </a:rPr>
              <a:t>Küresel Açılım</a:t>
            </a:r>
            <a:endParaRPr b="0" i="0" sz="1500" u="none" cap="none" strike="noStrike">
              <a:solidFill>
                <a:schemeClr val="dk1"/>
              </a:solidFill>
              <a:latin typeface="Calibri"/>
              <a:ea typeface="Calibri"/>
              <a:cs typeface="Calibri"/>
              <a:sym typeface="Calibri"/>
            </a:endParaRPr>
          </a:p>
        </p:txBody>
      </p:sp>
      <p:sp>
        <p:nvSpPr>
          <p:cNvPr id="100" name="Google Shape;100;p19"/>
          <p:cNvSpPr/>
          <p:nvPr/>
        </p:nvSpPr>
        <p:spPr>
          <a:xfrm>
            <a:off x="777240" y="2423160"/>
            <a:ext cx="1737300" cy="1554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5E5E5"/>
              </a:buClr>
              <a:buSzPts val="1100"/>
              <a:buFont typeface="Calibri"/>
              <a:buNone/>
            </a:pPr>
            <a:r>
              <a:rPr b="0" i="0" lang="tr" sz="1100" u="none" cap="none" strike="noStrike">
                <a:solidFill>
                  <a:srgbClr val="E5E5E5"/>
                </a:solidFill>
                <a:latin typeface="Calibri"/>
                <a:ea typeface="Calibri"/>
                <a:cs typeface="Calibri"/>
                <a:sym typeface="Calibri"/>
              </a:rPr>
              <a:t>Kanada'dan başlayıp tek gecede 130+ ülkeye girdi. Türkiye de bu dalgada yer aldı.</a:t>
            </a:r>
            <a:endParaRPr b="0" i="0" sz="1100" u="none" cap="none" strike="noStrike">
              <a:solidFill>
                <a:schemeClr val="dk1"/>
              </a:solidFill>
              <a:latin typeface="Calibri"/>
              <a:ea typeface="Calibri"/>
              <a:cs typeface="Calibri"/>
              <a:sym typeface="Calibri"/>
            </a:endParaRPr>
          </a:p>
        </p:txBody>
      </p:sp>
      <p:sp>
        <p:nvSpPr>
          <p:cNvPr id="101" name="Google Shape;101;p19"/>
          <p:cNvSpPr/>
          <p:nvPr/>
        </p:nvSpPr>
        <p:spPr>
          <a:xfrm>
            <a:off x="2834640" y="914400"/>
            <a:ext cx="1920300" cy="3200400"/>
          </a:xfrm>
          <a:prstGeom prst="rect">
            <a:avLst/>
          </a:prstGeom>
          <a:solidFill>
            <a:srgbClr val="1A1A1A"/>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9"/>
          <p:cNvSpPr/>
          <p:nvPr/>
        </p:nvSpPr>
        <p:spPr>
          <a:xfrm>
            <a:off x="2834640" y="914400"/>
            <a:ext cx="1920300" cy="63900"/>
          </a:xfrm>
          <a:prstGeom prst="rect">
            <a:avLst/>
          </a:prstGeom>
          <a:solidFill>
            <a:srgbClr val="E50914"/>
          </a:solidFill>
          <a:ln cap="flat" cmpd="sng" w="12700">
            <a:solidFill>
              <a:srgbClr val="E509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 name="Google Shape;103;p19"/>
          <p:cNvPicPr preferRelativeResize="0"/>
          <p:nvPr/>
        </p:nvPicPr>
        <p:blipFill rotWithShape="1">
          <a:blip r:embed="rId4">
            <a:alphaModFix/>
          </a:blip>
          <a:srcRect b="0" l="0" r="0" t="0"/>
          <a:stretch/>
        </p:blipFill>
        <p:spPr>
          <a:xfrm>
            <a:off x="2971800" y="1097280"/>
            <a:ext cx="457200" cy="457200"/>
          </a:xfrm>
          <a:prstGeom prst="rect">
            <a:avLst/>
          </a:prstGeom>
          <a:noFill/>
          <a:ln>
            <a:noFill/>
          </a:ln>
        </p:spPr>
      </p:pic>
      <p:sp>
        <p:nvSpPr>
          <p:cNvPr id="104" name="Google Shape;104;p19"/>
          <p:cNvSpPr/>
          <p:nvPr/>
        </p:nvSpPr>
        <p:spPr>
          <a:xfrm>
            <a:off x="2926080" y="1600200"/>
            <a:ext cx="1737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08080"/>
              </a:buClr>
              <a:buSzPts val="1000"/>
              <a:buFont typeface="Arial"/>
              <a:buNone/>
            </a:pPr>
            <a:r>
              <a:rPr b="0" i="0" lang="tr" sz="1000" u="none" cap="none" strike="noStrike">
                <a:solidFill>
                  <a:srgbClr val="808080"/>
                </a:solidFill>
                <a:latin typeface="Arial"/>
                <a:ea typeface="Arial"/>
                <a:cs typeface="Arial"/>
                <a:sym typeface="Arial"/>
              </a:rPr>
              <a:t>Strateji</a:t>
            </a:r>
            <a:endParaRPr b="0" i="0" sz="1000" u="none" cap="none" strike="noStrike">
              <a:solidFill>
                <a:schemeClr val="dk1"/>
              </a:solidFill>
              <a:latin typeface="Calibri"/>
              <a:ea typeface="Calibri"/>
              <a:cs typeface="Calibri"/>
              <a:sym typeface="Calibri"/>
            </a:endParaRPr>
          </a:p>
        </p:txBody>
      </p:sp>
      <p:sp>
        <p:nvSpPr>
          <p:cNvPr id="105" name="Google Shape;105;p19"/>
          <p:cNvSpPr/>
          <p:nvPr/>
        </p:nvSpPr>
        <p:spPr>
          <a:xfrm>
            <a:off x="2926080" y="1874520"/>
            <a:ext cx="1737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Arial Black"/>
              <a:buNone/>
            </a:pPr>
            <a:r>
              <a:rPr b="1" i="0" lang="tr" sz="1500" u="none" cap="none" strike="noStrike">
                <a:solidFill>
                  <a:srgbClr val="FFFFFF"/>
                </a:solidFill>
                <a:latin typeface="Arial Black"/>
                <a:ea typeface="Arial Black"/>
                <a:cs typeface="Arial Black"/>
                <a:sym typeface="Arial Black"/>
              </a:rPr>
              <a:t>Yerel İçerikler</a:t>
            </a:r>
            <a:endParaRPr b="0" i="0" sz="1500" u="none" cap="none" strike="noStrike">
              <a:solidFill>
                <a:schemeClr val="dk1"/>
              </a:solidFill>
              <a:latin typeface="Calibri"/>
              <a:ea typeface="Calibri"/>
              <a:cs typeface="Calibri"/>
              <a:sym typeface="Calibri"/>
            </a:endParaRPr>
          </a:p>
        </p:txBody>
      </p:sp>
      <p:sp>
        <p:nvSpPr>
          <p:cNvPr id="106" name="Google Shape;106;p19"/>
          <p:cNvSpPr/>
          <p:nvPr/>
        </p:nvSpPr>
        <p:spPr>
          <a:xfrm>
            <a:off x="2926080" y="2423160"/>
            <a:ext cx="1737300" cy="1554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5E5E5"/>
              </a:buClr>
              <a:buSzPts val="1100"/>
              <a:buFont typeface="Calibri"/>
              <a:buNone/>
            </a:pPr>
            <a:r>
              <a:rPr b="0" i="0" lang="tr" sz="1100" u="none" cap="none" strike="noStrike">
                <a:solidFill>
                  <a:srgbClr val="E5E5E5"/>
                </a:solidFill>
                <a:latin typeface="Calibri"/>
                <a:ea typeface="Calibri"/>
                <a:cs typeface="Calibri"/>
                <a:sym typeface="Calibri"/>
              </a:rPr>
              <a:t>La Casa de Papel, Dark, Squid Game — her ülkede kendi dilinde içerik üretti.</a:t>
            </a:r>
            <a:endParaRPr b="0" i="0" sz="1100" u="none" cap="none" strike="noStrike">
              <a:solidFill>
                <a:schemeClr val="dk1"/>
              </a:solidFill>
              <a:latin typeface="Calibri"/>
              <a:ea typeface="Calibri"/>
              <a:cs typeface="Calibri"/>
              <a:sym typeface="Calibri"/>
            </a:endParaRPr>
          </a:p>
        </p:txBody>
      </p:sp>
      <p:sp>
        <p:nvSpPr>
          <p:cNvPr id="107" name="Google Shape;107;p19"/>
          <p:cNvSpPr/>
          <p:nvPr/>
        </p:nvSpPr>
        <p:spPr>
          <a:xfrm>
            <a:off x="4983480" y="914400"/>
            <a:ext cx="1920300" cy="3200400"/>
          </a:xfrm>
          <a:prstGeom prst="rect">
            <a:avLst/>
          </a:prstGeom>
          <a:solidFill>
            <a:srgbClr val="1A1A1A"/>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9"/>
          <p:cNvSpPr/>
          <p:nvPr/>
        </p:nvSpPr>
        <p:spPr>
          <a:xfrm>
            <a:off x="4983480" y="914400"/>
            <a:ext cx="1920300" cy="63900"/>
          </a:xfrm>
          <a:prstGeom prst="rect">
            <a:avLst/>
          </a:prstGeom>
          <a:solidFill>
            <a:srgbClr val="E50914"/>
          </a:solidFill>
          <a:ln cap="flat" cmpd="sng" w="12700">
            <a:solidFill>
              <a:srgbClr val="E509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9" name="Google Shape;109;p19"/>
          <p:cNvPicPr preferRelativeResize="0"/>
          <p:nvPr/>
        </p:nvPicPr>
        <p:blipFill rotWithShape="1">
          <a:blip r:embed="rId5">
            <a:alphaModFix/>
          </a:blip>
          <a:srcRect b="0" l="0" r="0" t="0"/>
          <a:stretch/>
        </p:blipFill>
        <p:spPr>
          <a:xfrm>
            <a:off x="5120640" y="1097280"/>
            <a:ext cx="457200" cy="457200"/>
          </a:xfrm>
          <a:prstGeom prst="rect">
            <a:avLst/>
          </a:prstGeom>
          <a:noFill/>
          <a:ln>
            <a:noFill/>
          </a:ln>
        </p:spPr>
      </p:pic>
      <p:sp>
        <p:nvSpPr>
          <p:cNvPr id="110" name="Google Shape;110;p19"/>
          <p:cNvSpPr/>
          <p:nvPr/>
        </p:nvSpPr>
        <p:spPr>
          <a:xfrm>
            <a:off x="5074920" y="1600200"/>
            <a:ext cx="1737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08080"/>
              </a:buClr>
              <a:buSzPts val="1000"/>
              <a:buFont typeface="Arial"/>
              <a:buNone/>
            </a:pPr>
            <a:r>
              <a:rPr b="0" i="0" lang="tr" sz="1000" u="none" cap="none" strike="noStrike">
                <a:solidFill>
                  <a:srgbClr val="808080"/>
                </a:solidFill>
                <a:latin typeface="Arial"/>
                <a:ea typeface="Arial"/>
                <a:cs typeface="Arial"/>
                <a:sym typeface="Arial"/>
              </a:rPr>
              <a:t>Model</a:t>
            </a:r>
            <a:endParaRPr b="0" i="0" sz="1000" u="none" cap="none" strike="noStrike">
              <a:solidFill>
                <a:schemeClr val="dk1"/>
              </a:solidFill>
              <a:latin typeface="Calibri"/>
              <a:ea typeface="Calibri"/>
              <a:cs typeface="Calibri"/>
              <a:sym typeface="Calibri"/>
            </a:endParaRPr>
          </a:p>
        </p:txBody>
      </p:sp>
      <p:sp>
        <p:nvSpPr>
          <p:cNvPr id="111" name="Google Shape;111;p19"/>
          <p:cNvSpPr/>
          <p:nvPr/>
        </p:nvSpPr>
        <p:spPr>
          <a:xfrm>
            <a:off x="5074920" y="1874520"/>
            <a:ext cx="1737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Arial Black"/>
              <a:buNone/>
            </a:pPr>
            <a:r>
              <a:rPr b="1" i="0" lang="tr" sz="1500" u="none" cap="none" strike="noStrike">
                <a:solidFill>
                  <a:srgbClr val="FFFFFF"/>
                </a:solidFill>
                <a:latin typeface="Arial Black"/>
                <a:ea typeface="Arial Black"/>
                <a:cs typeface="Arial Black"/>
                <a:sym typeface="Arial Black"/>
              </a:rPr>
              <a:t>Esnek Fiyatlandırma</a:t>
            </a:r>
            <a:endParaRPr b="0" i="0" sz="1500" u="none" cap="none" strike="noStrike">
              <a:solidFill>
                <a:schemeClr val="dk1"/>
              </a:solidFill>
              <a:latin typeface="Calibri"/>
              <a:ea typeface="Calibri"/>
              <a:cs typeface="Calibri"/>
              <a:sym typeface="Calibri"/>
            </a:endParaRPr>
          </a:p>
        </p:txBody>
      </p:sp>
      <p:sp>
        <p:nvSpPr>
          <p:cNvPr id="112" name="Google Shape;112;p19"/>
          <p:cNvSpPr/>
          <p:nvPr/>
        </p:nvSpPr>
        <p:spPr>
          <a:xfrm>
            <a:off x="5074920" y="2423160"/>
            <a:ext cx="1737300" cy="1554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5E5E5"/>
              </a:buClr>
              <a:buSzPts val="1100"/>
              <a:buFont typeface="Calibri"/>
              <a:buNone/>
            </a:pPr>
            <a:r>
              <a:rPr b="0" i="0" lang="tr" sz="1100" u="none" cap="none" strike="noStrike">
                <a:solidFill>
                  <a:srgbClr val="E5E5E5"/>
                </a:solidFill>
                <a:latin typeface="Calibri"/>
                <a:ea typeface="Calibri"/>
                <a:cs typeface="Calibri"/>
                <a:sym typeface="Calibri"/>
              </a:rPr>
              <a:t>Gelişmekte olan ülkelere daha uygun paketler sunarak abone tabanını genişletti.</a:t>
            </a:r>
            <a:endParaRPr b="0" i="0" sz="1100" u="none" cap="none" strike="noStrike">
              <a:solidFill>
                <a:schemeClr val="dk1"/>
              </a:solidFill>
              <a:latin typeface="Calibri"/>
              <a:ea typeface="Calibri"/>
              <a:cs typeface="Calibri"/>
              <a:sym typeface="Calibri"/>
            </a:endParaRPr>
          </a:p>
        </p:txBody>
      </p:sp>
      <p:sp>
        <p:nvSpPr>
          <p:cNvPr id="113" name="Google Shape;113;p19"/>
          <p:cNvSpPr/>
          <p:nvPr/>
        </p:nvSpPr>
        <p:spPr>
          <a:xfrm>
            <a:off x="7132320" y="914400"/>
            <a:ext cx="1920300" cy="3200400"/>
          </a:xfrm>
          <a:prstGeom prst="rect">
            <a:avLst/>
          </a:prstGeom>
          <a:solidFill>
            <a:srgbClr val="1A1A1A"/>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9"/>
          <p:cNvSpPr/>
          <p:nvPr/>
        </p:nvSpPr>
        <p:spPr>
          <a:xfrm>
            <a:off x="7132320" y="914400"/>
            <a:ext cx="1920300" cy="63900"/>
          </a:xfrm>
          <a:prstGeom prst="rect">
            <a:avLst/>
          </a:prstGeom>
          <a:solidFill>
            <a:srgbClr val="E50914"/>
          </a:solidFill>
          <a:ln cap="flat" cmpd="sng" w="12700">
            <a:solidFill>
              <a:srgbClr val="E509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5" name="Google Shape;115;p19"/>
          <p:cNvPicPr preferRelativeResize="0"/>
          <p:nvPr/>
        </p:nvPicPr>
        <p:blipFill rotWithShape="1">
          <a:blip r:embed="rId6">
            <a:alphaModFix/>
          </a:blip>
          <a:srcRect b="0" l="0" r="0" t="0"/>
          <a:stretch/>
        </p:blipFill>
        <p:spPr>
          <a:xfrm>
            <a:off x="7269480" y="1097280"/>
            <a:ext cx="457200" cy="457200"/>
          </a:xfrm>
          <a:prstGeom prst="rect">
            <a:avLst/>
          </a:prstGeom>
          <a:noFill/>
          <a:ln>
            <a:noFill/>
          </a:ln>
        </p:spPr>
      </p:pic>
      <p:sp>
        <p:nvSpPr>
          <p:cNvPr id="116" name="Google Shape;116;p19"/>
          <p:cNvSpPr/>
          <p:nvPr/>
        </p:nvSpPr>
        <p:spPr>
          <a:xfrm>
            <a:off x="7223760" y="1600200"/>
            <a:ext cx="1737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08080"/>
              </a:buClr>
              <a:buSzPts val="1000"/>
              <a:buFont typeface="Arial"/>
              <a:buNone/>
            </a:pPr>
            <a:r>
              <a:rPr b="0" i="0" lang="tr" sz="1000" u="none" cap="none" strike="noStrike">
                <a:solidFill>
                  <a:srgbClr val="808080"/>
                </a:solidFill>
                <a:latin typeface="Arial"/>
                <a:ea typeface="Arial"/>
                <a:cs typeface="Arial"/>
                <a:sym typeface="Arial"/>
              </a:rPr>
              <a:t>2019+</a:t>
            </a:r>
            <a:endParaRPr b="0" i="0" sz="1000" u="none" cap="none" strike="noStrike">
              <a:solidFill>
                <a:schemeClr val="dk1"/>
              </a:solidFill>
              <a:latin typeface="Calibri"/>
              <a:ea typeface="Calibri"/>
              <a:cs typeface="Calibri"/>
              <a:sym typeface="Calibri"/>
            </a:endParaRPr>
          </a:p>
        </p:txBody>
      </p:sp>
      <p:sp>
        <p:nvSpPr>
          <p:cNvPr id="117" name="Google Shape;117;p19"/>
          <p:cNvSpPr/>
          <p:nvPr/>
        </p:nvSpPr>
        <p:spPr>
          <a:xfrm>
            <a:off x="7223760" y="1874520"/>
            <a:ext cx="1737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Arial Black"/>
              <a:buNone/>
            </a:pPr>
            <a:r>
              <a:rPr b="1" i="0" lang="tr" sz="1500" u="none" cap="none" strike="noStrike">
                <a:solidFill>
                  <a:srgbClr val="FFFFFF"/>
                </a:solidFill>
                <a:latin typeface="Arial Black"/>
                <a:ea typeface="Arial Black"/>
                <a:cs typeface="Arial Black"/>
                <a:sym typeface="Arial Black"/>
              </a:rPr>
              <a:t>Rekabet Baskısı</a:t>
            </a:r>
            <a:endParaRPr b="0" i="0" sz="1500" u="none" cap="none" strike="noStrike">
              <a:solidFill>
                <a:schemeClr val="dk1"/>
              </a:solidFill>
              <a:latin typeface="Calibri"/>
              <a:ea typeface="Calibri"/>
              <a:cs typeface="Calibri"/>
              <a:sym typeface="Calibri"/>
            </a:endParaRPr>
          </a:p>
        </p:txBody>
      </p:sp>
      <p:sp>
        <p:nvSpPr>
          <p:cNvPr id="118" name="Google Shape;118;p19"/>
          <p:cNvSpPr/>
          <p:nvPr/>
        </p:nvSpPr>
        <p:spPr>
          <a:xfrm>
            <a:off x="7223760" y="2423160"/>
            <a:ext cx="1737300" cy="1554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5E5E5"/>
              </a:buClr>
              <a:buSzPts val="1100"/>
              <a:buFont typeface="Calibri"/>
              <a:buNone/>
            </a:pPr>
            <a:r>
              <a:rPr b="0" i="0" lang="tr" sz="1100" u="none" cap="none" strike="noStrike">
                <a:solidFill>
                  <a:srgbClr val="E5E5E5"/>
                </a:solidFill>
                <a:latin typeface="Calibri"/>
                <a:ea typeface="Calibri"/>
                <a:cs typeface="Calibri"/>
                <a:sym typeface="Calibri"/>
              </a:rPr>
              <a:t>Disney+, HBO Max, Amazon Prime ile yarışmak Netflix'i daha hızlı büyümeye itti.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23" name="Shape 123"/>
        <p:cNvGrpSpPr/>
        <p:nvPr/>
      </p:nvGrpSpPr>
      <p:grpSpPr>
        <a:xfrm>
          <a:off x="0" y="0"/>
          <a:ext cx="0" cy="0"/>
          <a:chOff x="0" y="0"/>
          <a:chExt cx="0" cy="0"/>
        </a:xfrm>
      </p:grpSpPr>
      <p:sp>
        <p:nvSpPr>
          <p:cNvPr id="124" name="Google Shape;124;p20"/>
          <p:cNvSpPr/>
          <p:nvPr/>
        </p:nvSpPr>
        <p:spPr>
          <a:xfrm>
            <a:off x="365760" y="164592"/>
            <a:ext cx="8412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Arial Black"/>
              <a:buNone/>
            </a:pPr>
            <a:r>
              <a:rPr b="1" i="0" lang="tr" sz="2400" u="none" cap="none" strike="noStrike">
                <a:solidFill>
                  <a:srgbClr val="FF0000"/>
                </a:solidFill>
                <a:latin typeface="Arial Black"/>
                <a:ea typeface="Arial Black"/>
                <a:cs typeface="Arial Black"/>
                <a:sym typeface="Arial Black"/>
              </a:rPr>
              <a:t>TÜRKİYE'DEN NEDEN BÖYLE BİR ŞEY ÇIKMADI?</a:t>
            </a:r>
            <a:endParaRPr b="0" i="0" sz="2400" u="none" cap="none" strike="noStrike">
              <a:solidFill>
                <a:srgbClr val="FF0000"/>
              </a:solidFill>
              <a:latin typeface="Calibri"/>
              <a:ea typeface="Calibri"/>
              <a:cs typeface="Calibri"/>
              <a:sym typeface="Calibri"/>
            </a:endParaRPr>
          </a:p>
        </p:txBody>
      </p:sp>
      <p:sp>
        <p:nvSpPr>
          <p:cNvPr id="125" name="Google Shape;125;p20"/>
          <p:cNvSpPr/>
          <p:nvPr/>
        </p:nvSpPr>
        <p:spPr>
          <a:xfrm>
            <a:off x="365760" y="960120"/>
            <a:ext cx="3931800" cy="1737300"/>
          </a:xfrm>
          <a:prstGeom prst="rect">
            <a:avLst/>
          </a:prstGeom>
          <a:solidFill>
            <a:srgbClr val="1A1A1A"/>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0"/>
          <p:cNvSpPr/>
          <p:nvPr/>
        </p:nvSpPr>
        <p:spPr>
          <a:xfrm>
            <a:off x="365760" y="960120"/>
            <a:ext cx="63900" cy="1737300"/>
          </a:xfrm>
          <a:prstGeom prst="rect">
            <a:avLst/>
          </a:prstGeom>
          <a:solidFill>
            <a:srgbClr val="E50914"/>
          </a:solidFill>
          <a:ln cap="flat" cmpd="sng" w="12700">
            <a:solidFill>
              <a:srgbClr val="E509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7" name="Google Shape;127;p20"/>
          <p:cNvPicPr preferRelativeResize="0"/>
          <p:nvPr/>
        </p:nvPicPr>
        <p:blipFill rotWithShape="1">
          <a:blip r:embed="rId3">
            <a:alphaModFix/>
          </a:blip>
          <a:srcRect b="0" l="0" r="0" t="0"/>
          <a:stretch/>
        </p:blipFill>
        <p:spPr>
          <a:xfrm>
            <a:off x="548640" y="1143000"/>
            <a:ext cx="411480" cy="411480"/>
          </a:xfrm>
          <a:prstGeom prst="rect">
            <a:avLst/>
          </a:prstGeom>
          <a:noFill/>
          <a:ln>
            <a:noFill/>
          </a:ln>
        </p:spPr>
      </p:pic>
      <p:sp>
        <p:nvSpPr>
          <p:cNvPr id="128" name="Google Shape;128;p20"/>
          <p:cNvSpPr/>
          <p:nvPr/>
        </p:nvSpPr>
        <p:spPr>
          <a:xfrm>
            <a:off x="1097280" y="1124712"/>
            <a:ext cx="30633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Arial Black"/>
              <a:buNone/>
            </a:pPr>
            <a:r>
              <a:rPr b="1" i="0" lang="tr" sz="1500" u="none" cap="none" strike="noStrike">
                <a:solidFill>
                  <a:srgbClr val="FFFFFF"/>
                </a:solidFill>
                <a:latin typeface="Arial Black"/>
                <a:ea typeface="Arial Black"/>
                <a:cs typeface="Arial Black"/>
                <a:sym typeface="Arial Black"/>
              </a:rPr>
              <a:t>Risk Kültürü</a:t>
            </a:r>
            <a:endParaRPr b="0" i="0" sz="1500" u="none" cap="none" strike="noStrike">
              <a:solidFill>
                <a:schemeClr val="dk1"/>
              </a:solidFill>
              <a:latin typeface="Calibri"/>
              <a:ea typeface="Calibri"/>
              <a:cs typeface="Calibri"/>
              <a:sym typeface="Calibri"/>
            </a:endParaRPr>
          </a:p>
        </p:txBody>
      </p:sp>
      <p:sp>
        <p:nvSpPr>
          <p:cNvPr id="129" name="Google Shape;129;p20"/>
          <p:cNvSpPr/>
          <p:nvPr/>
        </p:nvSpPr>
        <p:spPr>
          <a:xfrm>
            <a:off x="548640" y="1618488"/>
            <a:ext cx="3612000" cy="100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5E5E5"/>
              </a:buClr>
              <a:buSzPts val="1100"/>
              <a:buFont typeface="Calibri"/>
              <a:buNone/>
            </a:pPr>
            <a:r>
              <a:rPr b="0" i="0" lang="tr" sz="1100" u="none" cap="none" strike="noStrike">
                <a:solidFill>
                  <a:srgbClr val="E5E5E5"/>
                </a:solidFill>
                <a:latin typeface="Calibri"/>
                <a:ea typeface="Calibri"/>
                <a:cs typeface="Calibri"/>
                <a:sym typeface="Calibri"/>
              </a:rPr>
              <a:t>Silicon Valley'de başarısızlık deneyim sayılır. Türkiye'de ise girişimciler hâlâ çok daha temkinli adımlar atar.</a:t>
            </a:r>
            <a:endParaRPr b="0" i="0" sz="1100" u="none" cap="none" strike="noStrike">
              <a:solidFill>
                <a:schemeClr val="dk1"/>
              </a:solidFill>
              <a:latin typeface="Calibri"/>
              <a:ea typeface="Calibri"/>
              <a:cs typeface="Calibri"/>
              <a:sym typeface="Calibri"/>
            </a:endParaRPr>
          </a:p>
        </p:txBody>
      </p:sp>
      <p:sp>
        <p:nvSpPr>
          <p:cNvPr id="130" name="Google Shape;130;p20"/>
          <p:cNvSpPr/>
          <p:nvPr/>
        </p:nvSpPr>
        <p:spPr>
          <a:xfrm>
            <a:off x="4617720" y="960120"/>
            <a:ext cx="3931800" cy="1737300"/>
          </a:xfrm>
          <a:prstGeom prst="rect">
            <a:avLst/>
          </a:prstGeom>
          <a:solidFill>
            <a:srgbClr val="1A1A1A"/>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0"/>
          <p:cNvSpPr/>
          <p:nvPr/>
        </p:nvSpPr>
        <p:spPr>
          <a:xfrm>
            <a:off x="4617720" y="960120"/>
            <a:ext cx="63900" cy="1737300"/>
          </a:xfrm>
          <a:prstGeom prst="rect">
            <a:avLst/>
          </a:prstGeom>
          <a:solidFill>
            <a:srgbClr val="E50914"/>
          </a:solidFill>
          <a:ln cap="flat" cmpd="sng" w="12700">
            <a:solidFill>
              <a:srgbClr val="E509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2" name="Google Shape;132;p20"/>
          <p:cNvPicPr preferRelativeResize="0"/>
          <p:nvPr/>
        </p:nvPicPr>
        <p:blipFill rotWithShape="1">
          <a:blip r:embed="rId4">
            <a:alphaModFix/>
          </a:blip>
          <a:srcRect b="0" l="0" r="0" t="0"/>
          <a:stretch/>
        </p:blipFill>
        <p:spPr>
          <a:xfrm>
            <a:off x="4800600" y="1143000"/>
            <a:ext cx="411480" cy="411480"/>
          </a:xfrm>
          <a:prstGeom prst="rect">
            <a:avLst/>
          </a:prstGeom>
          <a:noFill/>
          <a:ln>
            <a:noFill/>
          </a:ln>
        </p:spPr>
      </p:pic>
      <p:sp>
        <p:nvSpPr>
          <p:cNvPr id="133" name="Google Shape;133;p20"/>
          <p:cNvSpPr/>
          <p:nvPr/>
        </p:nvSpPr>
        <p:spPr>
          <a:xfrm>
            <a:off x="5349240" y="1124712"/>
            <a:ext cx="30633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Arial Black"/>
              <a:buNone/>
            </a:pPr>
            <a:r>
              <a:rPr b="1" i="0" lang="tr" sz="1500" u="none" cap="none" strike="noStrike">
                <a:solidFill>
                  <a:srgbClr val="FFFFFF"/>
                </a:solidFill>
                <a:latin typeface="Arial Black"/>
                <a:ea typeface="Arial Black"/>
                <a:cs typeface="Arial Black"/>
                <a:sym typeface="Arial Black"/>
              </a:rPr>
              <a:t>Sermaye Eksikliği</a:t>
            </a:r>
            <a:endParaRPr b="0" i="0" sz="1500" u="none" cap="none" strike="noStrike">
              <a:solidFill>
                <a:schemeClr val="dk1"/>
              </a:solidFill>
              <a:latin typeface="Calibri"/>
              <a:ea typeface="Calibri"/>
              <a:cs typeface="Calibri"/>
              <a:sym typeface="Calibri"/>
            </a:endParaRPr>
          </a:p>
        </p:txBody>
      </p:sp>
      <p:sp>
        <p:nvSpPr>
          <p:cNvPr id="134" name="Google Shape;134;p20"/>
          <p:cNvSpPr/>
          <p:nvPr/>
        </p:nvSpPr>
        <p:spPr>
          <a:xfrm>
            <a:off x="4800600" y="1618488"/>
            <a:ext cx="3612000" cy="100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5E5E5"/>
              </a:buClr>
              <a:buSzPts val="1100"/>
              <a:buFont typeface="Calibri"/>
              <a:buNone/>
            </a:pPr>
            <a:r>
              <a:rPr b="0" i="0" lang="tr" sz="1100" u="none" cap="none" strike="noStrike">
                <a:solidFill>
                  <a:srgbClr val="E5E5E5"/>
                </a:solidFill>
                <a:latin typeface="Calibri"/>
                <a:ea typeface="Calibri"/>
                <a:cs typeface="Calibri"/>
                <a:sym typeface="Calibri"/>
              </a:rPr>
              <a:t>Venture capital ekosistemi hem geç gelişti hem de çok daha küçük. Büyük fikirleri hayata geçirecek para bulmak zor.</a:t>
            </a:r>
            <a:endParaRPr b="0" i="0" sz="1100" u="none" cap="none" strike="noStrike">
              <a:solidFill>
                <a:schemeClr val="dk1"/>
              </a:solidFill>
              <a:latin typeface="Calibri"/>
              <a:ea typeface="Calibri"/>
              <a:cs typeface="Calibri"/>
              <a:sym typeface="Calibri"/>
            </a:endParaRPr>
          </a:p>
        </p:txBody>
      </p:sp>
      <p:sp>
        <p:nvSpPr>
          <p:cNvPr id="135" name="Google Shape;135;p20"/>
          <p:cNvSpPr/>
          <p:nvPr/>
        </p:nvSpPr>
        <p:spPr>
          <a:xfrm>
            <a:off x="365760" y="2926080"/>
            <a:ext cx="3931800" cy="1737300"/>
          </a:xfrm>
          <a:prstGeom prst="rect">
            <a:avLst/>
          </a:prstGeom>
          <a:solidFill>
            <a:srgbClr val="1A1A1A"/>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0"/>
          <p:cNvSpPr/>
          <p:nvPr/>
        </p:nvSpPr>
        <p:spPr>
          <a:xfrm>
            <a:off x="365760" y="2926080"/>
            <a:ext cx="63900" cy="1737300"/>
          </a:xfrm>
          <a:prstGeom prst="rect">
            <a:avLst/>
          </a:prstGeom>
          <a:solidFill>
            <a:srgbClr val="E50914"/>
          </a:solidFill>
          <a:ln cap="flat" cmpd="sng" w="12700">
            <a:solidFill>
              <a:srgbClr val="E509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7" name="Google Shape;137;p20"/>
          <p:cNvPicPr preferRelativeResize="0"/>
          <p:nvPr/>
        </p:nvPicPr>
        <p:blipFill rotWithShape="1">
          <a:blip r:embed="rId5">
            <a:alphaModFix/>
          </a:blip>
          <a:srcRect b="0" l="0" r="0" t="0"/>
          <a:stretch/>
        </p:blipFill>
        <p:spPr>
          <a:xfrm>
            <a:off x="548640" y="3108960"/>
            <a:ext cx="411480" cy="411480"/>
          </a:xfrm>
          <a:prstGeom prst="rect">
            <a:avLst/>
          </a:prstGeom>
          <a:noFill/>
          <a:ln>
            <a:noFill/>
          </a:ln>
        </p:spPr>
      </p:pic>
      <p:sp>
        <p:nvSpPr>
          <p:cNvPr id="138" name="Google Shape;138;p20"/>
          <p:cNvSpPr/>
          <p:nvPr/>
        </p:nvSpPr>
        <p:spPr>
          <a:xfrm>
            <a:off x="1097280" y="3090672"/>
            <a:ext cx="30633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Arial Black"/>
              <a:buNone/>
            </a:pPr>
            <a:r>
              <a:rPr b="1" i="0" lang="tr" sz="1500" u="none" cap="none" strike="noStrike">
                <a:solidFill>
                  <a:srgbClr val="FFFFFF"/>
                </a:solidFill>
                <a:latin typeface="Arial Black"/>
                <a:ea typeface="Arial Black"/>
                <a:cs typeface="Arial Black"/>
                <a:sym typeface="Arial Black"/>
              </a:rPr>
              <a:t>Pazar Büyüklüğü</a:t>
            </a:r>
            <a:endParaRPr b="0" i="0" sz="1500" u="none" cap="none" strike="noStrike">
              <a:solidFill>
                <a:schemeClr val="dk1"/>
              </a:solidFill>
              <a:latin typeface="Calibri"/>
              <a:ea typeface="Calibri"/>
              <a:cs typeface="Calibri"/>
              <a:sym typeface="Calibri"/>
            </a:endParaRPr>
          </a:p>
        </p:txBody>
      </p:sp>
      <p:sp>
        <p:nvSpPr>
          <p:cNvPr id="139" name="Google Shape;139;p20"/>
          <p:cNvSpPr/>
          <p:nvPr/>
        </p:nvSpPr>
        <p:spPr>
          <a:xfrm>
            <a:off x="548640" y="3584448"/>
            <a:ext cx="3612000" cy="100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5E5E5"/>
              </a:buClr>
              <a:buSzPts val="1100"/>
              <a:buFont typeface="Calibri"/>
              <a:buNone/>
            </a:pPr>
            <a:r>
              <a:rPr b="0" i="0" lang="tr" sz="1100" u="none" cap="none" strike="noStrike">
                <a:solidFill>
                  <a:srgbClr val="E5E5E5"/>
                </a:solidFill>
                <a:latin typeface="Calibri"/>
                <a:ea typeface="Calibri"/>
                <a:cs typeface="Calibri"/>
                <a:sym typeface="Calibri"/>
              </a:rPr>
              <a:t>ABD 300M kişilik iç pazarla başladı. Türkiye'de 85M nüfus ve Türkçe içeriğe global talep kısıtlı.</a:t>
            </a:r>
            <a:endParaRPr b="0" i="0" sz="1100" u="none" cap="none" strike="noStrike">
              <a:solidFill>
                <a:schemeClr val="dk1"/>
              </a:solidFill>
              <a:latin typeface="Calibri"/>
              <a:ea typeface="Calibri"/>
              <a:cs typeface="Calibri"/>
              <a:sym typeface="Calibri"/>
            </a:endParaRPr>
          </a:p>
        </p:txBody>
      </p:sp>
      <p:sp>
        <p:nvSpPr>
          <p:cNvPr id="140" name="Google Shape;140;p20"/>
          <p:cNvSpPr/>
          <p:nvPr/>
        </p:nvSpPr>
        <p:spPr>
          <a:xfrm>
            <a:off x="4617720" y="2926080"/>
            <a:ext cx="3931800" cy="1737300"/>
          </a:xfrm>
          <a:prstGeom prst="rect">
            <a:avLst/>
          </a:prstGeom>
          <a:solidFill>
            <a:srgbClr val="1A1A1A"/>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0"/>
          <p:cNvSpPr/>
          <p:nvPr/>
        </p:nvSpPr>
        <p:spPr>
          <a:xfrm>
            <a:off x="4617720" y="2926080"/>
            <a:ext cx="63900" cy="1737300"/>
          </a:xfrm>
          <a:prstGeom prst="rect">
            <a:avLst/>
          </a:prstGeom>
          <a:solidFill>
            <a:srgbClr val="E50914"/>
          </a:solidFill>
          <a:ln cap="flat" cmpd="sng" w="12700">
            <a:solidFill>
              <a:srgbClr val="E509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2" name="Google Shape;142;p20"/>
          <p:cNvPicPr preferRelativeResize="0"/>
          <p:nvPr/>
        </p:nvPicPr>
        <p:blipFill rotWithShape="1">
          <a:blip r:embed="rId6">
            <a:alphaModFix/>
          </a:blip>
          <a:srcRect b="0" l="0" r="0" t="0"/>
          <a:stretch/>
        </p:blipFill>
        <p:spPr>
          <a:xfrm>
            <a:off x="4800600" y="3108960"/>
            <a:ext cx="411480" cy="411480"/>
          </a:xfrm>
          <a:prstGeom prst="rect">
            <a:avLst/>
          </a:prstGeom>
          <a:noFill/>
          <a:ln>
            <a:noFill/>
          </a:ln>
        </p:spPr>
      </p:pic>
      <p:sp>
        <p:nvSpPr>
          <p:cNvPr id="143" name="Google Shape;143;p20"/>
          <p:cNvSpPr/>
          <p:nvPr/>
        </p:nvSpPr>
        <p:spPr>
          <a:xfrm>
            <a:off x="5349240" y="3090672"/>
            <a:ext cx="30633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Arial Black"/>
              <a:buNone/>
            </a:pPr>
            <a:r>
              <a:rPr b="1" i="0" lang="tr" sz="1500" u="none" cap="none" strike="noStrike">
                <a:solidFill>
                  <a:srgbClr val="FFFFFF"/>
                </a:solidFill>
                <a:latin typeface="Arial Black"/>
                <a:ea typeface="Arial Black"/>
                <a:cs typeface="Arial Black"/>
                <a:sym typeface="Arial Black"/>
              </a:rPr>
              <a:t>Altyapı</a:t>
            </a:r>
            <a:endParaRPr b="0" i="0" sz="1500" u="none" cap="none" strike="noStrike">
              <a:solidFill>
                <a:schemeClr val="dk1"/>
              </a:solidFill>
              <a:latin typeface="Calibri"/>
              <a:ea typeface="Calibri"/>
              <a:cs typeface="Calibri"/>
              <a:sym typeface="Calibri"/>
            </a:endParaRPr>
          </a:p>
        </p:txBody>
      </p:sp>
      <p:sp>
        <p:nvSpPr>
          <p:cNvPr id="144" name="Google Shape;144;p20"/>
          <p:cNvSpPr/>
          <p:nvPr/>
        </p:nvSpPr>
        <p:spPr>
          <a:xfrm>
            <a:off x="4800600" y="3584448"/>
            <a:ext cx="3612000" cy="100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5E5E5"/>
              </a:buClr>
              <a:buSzPts val="1100"/>
              <a:buFont typeface="Calibri"/>
              <a:buNone/>
            </a:pPr>
            <a:r>
              <a:rPr b="0" i="0" lang="tr" sz="1100" u="none" cap="none" strike="noStrike">
                <a:solidFill>
                  <a:srgbClr val="E5E5E5"/>
                </a:solidFill>
                <a:latin typeface="Calibri"/>
                <a:ea typeface="Calibri"/>
                <a:cs typeface="Calibri"/>
                <a:sym typeface="Calibri"/>
              </a:rPr>
              <a:t>Netflix 2007'de streaming'e geçtiğinde ABD'de hızlı internet hazırdı. Türkiye'de yaygınlaşma daha sonra geldi.</a:t>
            </a:r>
            <a:endParaRPr b="0" i="0" sz="1100" u="none" cap="none" strike="noStrike">
              <a:solidFill>
                <a:schemeClr val="dk1"/>
              </a:solidFill>
              <a:latin typeface="Calibri"/>
              <a:ea typeface="Calibri"/>
              <a:cs typeface="Calibri"/>
              <a:sym typeface="Calibri"/>
            </a:endParaRPr>
          </a:p>
        </p:txBody>
      </p:sp>
      <p:sp>
        <p:nvSpPr>
          <p:cNvPr id="145" name="Google Shape;145;p20"/>
          <p:cNvSpPr/>
          <p:nvPr/>
        </p:nvSpPr>
        <p:spPr>
          <a:xfrm>
            <a:off x="365760" y="4434840"/>
            <a:ext cx="8412600" cy="502800"/>
          </a:xfrm>
          <a:prstGeom prst="rect">
            <a:avLst/>
          </a:prstGeom>
          <a:solidFill>
            <a:srgbClr val="1C1C1C"/>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0"/>
          <p:cNvSpPr/>
          <p:nvPr/>
        </p:nvSpPr>
        <p:spPr>
          <a:xfrm>
            <a:off x="457200" y="4462272"/>
            <a:ext cx="82296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08080"/>
              </a:buClr>
              <a:buSzPts val="1050"/>
              <a:buFont typeface="Calibri"/>
              <a:buNone/>
            </a:pPr>
            <a:r>
              <a:rPr b="0" i="1" lang="tr" sz="1050" u="none" cap="none" strike="noStrike">
                <a:solidFill>
                  <a:srgbClr val="808080"/>
                </a:solidFill>
                <a:latin typeface="Calibri"/>
                <a:ea typeface="Calibri"/>
                <a:cs typeface="Calibri"/>
                <a:sym typeface="Calibri"/>
              </a:rPr>
              <a:t>💡  Türkiye'de BluTV ve Gain gibi yerli platformlar çıktı. İçerik üretme gücü var — küresel platforma dönüştürecek ekosistem henüz gelişiyor.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0" name="Shape 150"/>
        <p:cNvGrpSpPr/>
        <p:nvPr/>
      </p:nvGrpSpPr>
      <p:grpSpPr>
        <a:xfrm>
          <a:off x="0" y="0"/>
          <a:ext cx="0" cy="0"/>
          <a:chOff x="0" y="0"/>
          <a:chExt cx="0" cy="0"/>
        </a:xfrm>
      </p:grpSpPr>
      <p:sp>
        <p:nvSpPr>
          <p:cNvPr id="151" name="Google Shape;15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solidFill>
                  <a:srgbClr val="FF0000"/>
                </a:solidFill>
              </a:rPr>
              <a:t>                                 Gelecek Vizyonu</a:t>
            </a:r>
            <a:endParaRPr>
              <a:solidFill>
                <a:srgbClr val="FF0000"/>
              </a:solidFill>
            </a:endParaRPr>
          </a:p>
        </p:txBody>
      </p:sp>
      <p:sp>
        <p:nvSpPr>
          <p:cNvPr id="152" name="Google Shape;152;p21"/>
          <p:cNvSpPr txBox="1"/>
          <p:nvPr>
            <p:ph idx="1" type="body"/>
          </p:nvPr>
        </p:nvSpPr>
        <p:spPr>
          <a:xfrm>
            <a:off x="311700" y="1168400"/>
            <a:ext cx="8391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sz="1100">
                <a:solidFill>
                  <a:schemeClr val="lt1"/>
                </a:solidFill>
              </a:rPr>
              <a:t>Oyun Sektörü:</a:t>
            </a:r>
            <a:r>
              <a:rPr lang="tr" sz="1100">
                <a:solidFill>
                  <a:schemeClr val="lt1"/>
                </a:solidFill>
              </a:rPr>
              <a:t> Netflix artık sadece dizi değil, mobil oyunlar da sunuyor.</a:t>
            </a:r>
            <a:endParaRPr sz="1100">
              <a:solidFill>
                <a:schemeClr val="lt1"/>
              </a:solidFill>
            </a:endParaRPr>
          </a:p>
          <a:p>
            <a:pPr indent="0" lvl="0" marL="0" rtl="0" algn="l">
              <a:spcBef>
                <a:spcPts val="1200"/>
              </a:spcBef>
              <a:spcAft>
                <a:spcPts val="0"/>
              </a:spcAft>
              <a:buNone/>
            </a:pPr>
            <a:r>
              <a:rPr b="1" lang="tr" sz="1100">
                <a:solidFill>
                  <a:schemeClr val="lt1"/>
                </a:solidFill>
              </a:rPr>
              <a:t>Şifre Paylaşımı Kısıtlaması:</a:t>
            </a:r>
            <a:r>
              <a:rPr lang="tr" sz="1100">
                <a:solidFill>
                  <a:schemeClr val="lt1"/>
                </a:solidFill>
              </a:rPr>
              <a:t> Büyümeyi sürdürmek için aldıkları yeni (ve tartışmalı) önlemler.</a:t>
            </a:r>
            <a:endParaRPr sz="1100">
              <a:solidFill>
                <a:schemeClr val="lt1"/>
              </a:solidFill>
            </a:endParaRPr>
          </a:p>
          <a:p>
            <a:pPr indent="0" lvl="0" marL="0" rtl="0" algn="l">
              <a:spcBef>
                <a:spcPts val="1200"/>
              </a:spcBef>
              <a:spcAft>
                <a:spcPts val="0"/>
              </a:spcAft>
              <a:buNone/>
            </a:pPr>
            <a:r>
              <a:rPr b="1" lang="tr" sz="1100">
                <a:solidFill>
                  <a:schemeClr val="lt1"/>
                </a:solidFill>
              </a:rPr>
              <a:t>Canlı Yayınlar:</a:t>
            </a:r>
            <a:r>
              <a:rPr lang="tr" sz="1100">
                <a:solidFill>
                  <a:schemeClr val="lt1"/>
                </a:solidFill>
              </a:rPr>
              <a:t> Spor müsabakaları ve canlı şovlara giriş denemeleri.</a:t>
            </a:r>
            <a:endParaRPr sz="1100">
              <a:solidFill>
                <a:schemeClr val="lt1"/>
              </a:solidFill>
            </a:endParaRPr>
          </a:p>
          <a:p>
            <a:pPr indent="0" lvl="0" marL="0" rtl="0" algn="l">
              <a:spcBef>
                <a:spcPts val="1200"/>
              </a:spcBef>
              <a:spcAft>
                <a:spcPts val="0"/>
              </a:spcAft>
              <a:buNone/>
            </a:pPr>
            <a:r>
              <a:rPr b="1" lang="tr" sz="1100">
                <a:solidFill>
                  <a:schemeClr val="lt1"/>
                </a:solidFill>
              </a:rPr>
              <a:t>Yapay zeka kullanımı</a:t>
            </a:r>
            <a:r>
              <a:rPr lang="tr" sz="1100">
                <a:solidFill>
                  <a:schemeClr val="lt1"/>
                </a:solidFill>
              </a:rPr>
              <a:t> İçerik önerilerinde zaten yapay zeka kullanıyordu ama artık içerik üretiminde de yapay zekadan yararlanmayı düşünüyorlar.</a:t>
            </a:r>
            <a:endParaRPr sz="1100">
              <a:solidFill>
                <a:schemeClr val="lt1"/>
              </a:solidFill>
            </a:endParaRPr>
          </a:p>
          <a:p>
            <a:pPr indent="0" lvl="0" marL="0" rtl="0" algn="l">
              <a:spcBef>
                <a:spcPts val="1200"/>
              </a:spcBef>
              <a:spcAft>
                <a:spcPts val="1200"/>
              </a:spcAft>
              <a:buNone/>
            </a:pPr>
            <a:r>
              <a:rPr lang="tr" sz="1100">
                <a:solidFill>
                  <a:schemeClr val="lt1"/>
                </a:solidFill>
              </a:rPr>
              <a:t>Genel tabloya bakıldığında Netflix artık sadece bir dizi platformu olmaktan çıkıp oyun, spor, canlı yayın ve reklamcılığı kapsayan çok daha geniş bir eğlence şirketine dönüşmeye çalışıyor.</a:t>
            </a:r>
            <a:endParaRPr sz="1100">
              <a:solidFill>
                <a:schemeClr val="lt1"/>
              </a:solidFill>
            </a:endParaRPr>
          </a:p>
        </p:txBody>
      </p:sp>
      <p:sp>
        <p:nvSpPr>
          <p:cNvPr id="153" name="Google Shape;153;p21"/>
          <p:cNvSpPr txBox="1"/>
          <p:nvPr/>
        </p:nvSpPr>
        <p:spPr>
          <a:xfrm>
            <a:off x="5755438" y="3020425"/>
            <a:ext cx="2816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7" name="Shape 157"/>
        <p:cNvGrpSpPr/>
        <p:nvPr/>
      </p:nvGrpSpPr>
      <p:grpSpPr>
        <a:xfrm>
          <a:off x="0" y="0"/>
          <a:ext cx="0" cy="0"/>
          <a:chOff x="0" y="0"/>
          <a:chExt cx="0" cy="0"/>
        </a:xfrm>
      </p:grpSpPr>
      <p:sp>
        <p:nvSpPr>
          <p:cNvPr id="158" name="Google Shape;158;p22"/>
          <p:cNvSpPr txBox="1"/>
          <p:nvPr/>
        </p:nvSpPr>
        <p:spPr>
          <a:xfrm>
            <a:off x="5755438" y="3020425"/>
            <a:ext cx="2816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2"/>
              </a:solidFill>
            </a:endParaRPr>
          </a:p>
        </p:txBody>
      </p:sp>
      <p:pic>
        <p:nvPicPr>
          <p:cNvPr id="159" name="Google Shape;159;p22"/>
          <p:cNvPicPr preferRelativeResize="0"/>
          <p:nvPr/>
        </p:nvPicPr>
        <p:blipFill>
          <a:blip r:embed="rId3">
            <a:alphaModFix/>
          </a:blip>
          <a:stretch>
            <a:fillRect/>
          </a:stretch>
        </p:blipFill>
        <p:spPr>
          <a:xfrm>
            <a:off x="2421425" y="78950"/>
            <a:ext cx="4501150" cy="1301909"/>
          </a:xfrm>
          <a:prstGeom prst="rect">
            <a:avLst/>
          </a:prstGeom>
          <a:noFill/>
          <a:ln>
            <a:noFill/>
          </a:ln>
        </p:spPr>
      </p:pic>
      <p:pic>
        <p:nvPicPr>
          <p:cNvPr id="160" name="Google Shape;160;p22"/>
          <p:cNvPicPr preferRelativeResize="0"/>
          <p:nvPr/>
        </p:nvPicPr>
        <p:blipFill>
          <a:blip r:embed="rId4">
            <a:alphaModFix/>
          </a:blip>
          <a:stretch>
            <a:fillRect/>
          </a:stretch>
        </p:blipFill>
        <p:spPr>
          <a:xfrm>
            <a:off x="2367200" y="1416188"/>
            <a:ext cx="4696250" cy="356248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4" name="Shape 164"/>
        <p:cNvGrpSpPr/>
        <p:nvPr/>
      </p:nvGrpSpPr>
      <p:grpSpPr>
        <a:xfrm>
          <a:off x="0" y="0"/>
          <a:ext cx="0" cy="0"/>
          <a:chOff x="0" y="0"/>
          <a:chExt cx="0" cy="0"/>
        </a:xfrm>
      </p:grpSpPr>
      <p:sp>
        <p:nvSpPr>
          <p:cNvPr id="165" name="Google Shape;165;p23"/>
          <p:cNvSpPr txBox="1"/>
          <p:nvPr>
            <p:ph type="title"/>
          </p:nvPr>
        </p:nvSpPr>
        <p:spPr>
          <a:xfrm>
            <a:off x="311700" y="199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solidFill>
                  <a:srgbClr val="FF0000"/>
                </a:solidFill>
              </a:rPr>
              <a:t>                         Dinlediğiniz İçin Teşekkürler</a:t>
            </a:r>
            <a:endParaRPr>
              <a:solidFill>
                <a:srgbClr val="FF0000"/>
              </a:solidFill>
            </a:endParaRPr>
          </a:p>
        </p:txBody>
      </p:sp>
      <p:sp>
        <p:nvSpPr>
          <p:cNvPr id="166" name="Google Shape;166;p23"/>
          <p:cNvSpPr txBox="1"/>
          <p:nvPr/>
        </p:nvSpPr>
        <p:spPr>
          <a:xfrm>
            <a:off x="5755438" y="3020425"/>
            <a:ext cx="2816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